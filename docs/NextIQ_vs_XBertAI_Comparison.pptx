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5"/>
    <p:restoredTop sz="94715"/>
  </p:normalViewPr>
  <p:slideViewPr>
    <p:cSldViewPr snapToGrid="0" snapToObjects="1">
      <p:cViewPr varScale="1">
        <p:scale>
          <a:sx n="143" d="100"/>
          <a:sy n="143" d="100"/>
        </p:scale>
        <p:origin x="4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1C282-2679-AD43-BB4C-1C704FE13AE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75D36D-9FF7-B847-9885-475163689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34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5D36D-9FF7-B847-9885-475163689C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71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NextIQ vs XBert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rPr dirty="0"/>
              <a:t>Product Comparison &amp; Unified 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69117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dirty="0"/>
              <a:t>Nextiva  |  Confidential  |  </a:t>
            </a:r>
            <a:r>
              <a:rPr lang="en-US" dirty="0"/>
              <a:t>March</a:t>
            </a:r>
            <a:r>
              <a:rPr dirty="0"/>
              <a:t>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61CBF0-6F1E-C2BD-F608-3977AFB3CF59}"/>
              </a:ext>
            </a:extLst>
          </p:cNvPr>
          <p:cNvSpPr txBox="1"/>
          <p:nvPr/>
        </p:nvSpPr>
        <p:spPr>
          <a:xfrm>
            <a:off x="4866290" y="4114800"/>
            <a:ext cx="6416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- Anil Reddy Mosali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1. Executive Summary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2. Product Identity Cards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3. Architecture &amp; The AI Funnel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4. Feature-by-Feature Comparison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5. Pricing &amp; Billing Comparison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6. Use-Case Positioning Matrix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7. Customer Segmentation Guide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8. Competitive Battle Cards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9. Key Differentiators &amp; AI Completeness Gap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10. FAQ for Internal Teams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11. Summary &amp;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03520" cy="22860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A047"/>
                </a:solidFill>
                <a:latin typeface="Calibri"/>
              </a:defRPr>
            </a:pPr>
            <a:r>
              <a:t>XBert AI — Customer-Facing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Autonomous AI agent that resolves customer inquiries across phone, chat, and SMS without human intervention. Built on skill-based routing — admin configures prompts + tools per skill. Operates 24/7, learns continuously. $0.99 per resolution.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303520" cy="228600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5C0"/>
                </a:solidFill>
                <a:latin typeface="Calibri"/>
              </a:defRPr>
            </a:pPr>
            <a:r>
              <a:t>NextIQ — Agent-Facing AI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Real-time AI copilot embedded in the agent's inbox. Surfaces KB responses, NBA suggestions, executes tools, and provides coaching nudges. Autopilot mode with 15-sec human-in-the-loop countdown. Omnichannel. $0.20 per WorkItem.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11064240" cy="2286000"/>
          </a:xfrm>
          <a:prstGeom prst="rect">
            <a:avLst/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The Unified AI Funnel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Together they form a complete AI funnel: XBert deflects what it can autonomously, NextIQ equips human agents to resolve everything else faster and better. They are NOT competing products — they are two layers of a single AI strategy. A conversation resolved by XBert never reaches a human agent and is never billed as a NextIQ WorkItem. When XBert cannot resolve, the conversation is handed off with full context to a human agent where NextIQ takes 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Product Identity Cards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XBert AI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NextIQ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Tagline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Your AI employee that never sleeps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The AI decision engine that makes every agent your best agent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Product Category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Customer-facing AI 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Agent-facing AI Copilot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Target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End customers (self-service)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Human support/sales agents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Primary Function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Autonomous query resolution via skills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KB retrieval, NBA suggestions, Autopilot, Coaching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Interaction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Fully autonomous — no human in 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Copilot — human-in-the-loop with optional Autopilot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Channels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Phone, Chat, SMS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Live Chat, SMS, Social, Email, Voice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Pricing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$0.99 per resolution (100 sessions/mo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$0.20/WorkItem (usage-based add-on); free units Launch (20) &amp; Grow (50)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Billing Unit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Resolution (successful deflection)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WorkItem (omnichannel session)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Admin Config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Skill prompts + tool assignment per skill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Actions Builder, Coaching Rules, KB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SKU Availability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Add-on across all plans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Usage-based add-on across all plans ($0.20/WorkItem)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Key 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Deflection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Handle-time reduction, CSAT lift, coaching compliance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Architecture &amp; The Unified AI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3A047"/>
                </a:solidFill>
                <a:latin typeface="Calibri"/>
              </a:defRPr>
            </a:pPr>
            <a:r>
              <a:t>XBert AI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Skill-Based Routing: </a:t>
            </a:r>
            <a:r>
              <a:rPr sz="1200">
                <a:solidFill>
                  <a:srgbClr val="666666"/>
                </a:solidFill>
                <a:latin typeface="Calibri"/>
              </a:rPr>
              <a:t>Each skill = prompt + tools + routing logic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No-Code Config: </a:t>
            </a:r>
            <a:r>
              <a:rPr sz="1200">
                <a:solidFill>
                  <a:srgbClr val="666666"/>
                </a:solidFill>
                <a:latin typeface="Calibri"/>
              </a:rPr>
              <a:t>Admin creates skills in minutes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Continuous Learning: </a:t>
            </a:r>
            <a:r>
              <a:rPr sz="1200">
                <a:solidFill>
                  <a:srgbClr val="666666"/>
                </a:solidFill>
                <a:latin typeface="Calibri"/>
              </a:rPr>
              <a:t>Auto-tests, trains, optimizes per interaction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Graceful Handoff: </a:t>
            </a:r>
            <a:r>
              <a:rPr sz="1200">
                <a:solidFill>
                  <a:srgbClr val="666666"/>
                </a:solidFill>
                <a:latin typeface="Calibri"/>
              </a:rPr>
              <a:t>Low confidence → route to human with full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65C0"/>
                </a:solidFill>
                <a:latin typeface="Calibri"/>
              </a:defRPr>
            </a:pPr>
            <a:r>
              <a:t>NextIQ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Intent Classification: </a:t>
            </a:r>
            <a:r>
              <a:rPr sz="1200">
                <a:solidFill>
                  <a:srgbClr val="666666"/>
                </a:solidFill>
                <a:latin typeface="Calibri"/>
              </a:rPr>
              <a:t>Routes to KB, NBA, or both by confidence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NBA Engine: </a:t>
            </a:r>
            <a:r>
              <a:rPr sz="1200">
                <a:solidFill>
                  <a:srgbClr val="666666"/>
                </a:solidFill>
                <a:latin typeface="Calibri"/>
              </a:rPr>
              <a:t>Smart replies + tool executions ranked by relevance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Autopilot: </a:t>
            </a:r>
            <a:r>
              <a:rPr sz="1200">
                <a:solidFill>
                  <a:srgbClr val="666666"/>
                </a:solidFill>
                <a:latin typeface="Calibri"/>
              </a:rPr>
              <a:t>15-sec countdown, agent can override or edit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Coaching Engine: </a:t>
            </a:r>
            <a:r>
              <a:rPr sz="1200">
                <a:solidFill>
                  <a:srgbClr val="666666"/>
                </a:solidFill>
                <a:latin typeface="Calibri"/>
              </a:rPr>
              <a:t>Real-time rule-based nudges, compliance scoring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1064240" cy="25603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AA1"/>
                </a:solidFill>
                <a:latin typeface="Calibri"/>
              </a:defRPr>
            </a:pPr>
            <a:r>
              <a:t>The Handoff Funnel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4663440"/>
            <a:ext cx="1463040" cy="1005840"/>
          </a:xfrm>
          <a:prstGeom prst="roundRect">
            <a:avLst/>
          </a:prstGeom>
          <a:solidFill>
            <a:srgbClr val="004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t>Customer Contact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663440"/>
            <a:ext cx="1463040" cy="100584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t>XBert Engages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4663440"/>
            <a:ext cx="1463040" cy="10058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t>Resolved? YES</a:t>
            </a:r>
            <a:br/>
            <a:r>
              <a:t>→ $0.99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663440"/>
            <a:ext cx="1463040" cy="10058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t>Resolved? NO</a:t>
            </a:r>
            <a:br/>
            <a:r>
              <a:t>→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4663440"/>
            <a:ext cx="1463040" cy="10058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t>NextIQ Activates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0" y="4663440"/>
            <a:ext cx="1463040" cy="10058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t>Agent Resolves</a:t>
            </a:r>
            <a:br/>
            <a:r>
              <a:t>→ $0.20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54680" y="4892040"/>
            <a:ext cx="27432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4983479" y="4892040"/>
            <a:ext cx="27432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6812279" y="4892040"/>
            <a:ext cx="27432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8641080" y="4892040"/>
            <a:ext cx="27432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10469880" y="4892040"/>
            <a:ext cx="27432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 Feature-by-Feature Comparison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XBert AI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NextIQ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Target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End customer (self-service)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Human agent (assisted service)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Interaction Style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Fully autonomous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Copilot — AI assists human agent in real time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Knowledge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Answers from skill prompts + data 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KB articles with source attribution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Tool Execution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Within skill scope (book, check, update)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NBA engine (refunds, lookups, calendar invites)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Routing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Skill-based intent routing; escalates to human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N/A — operates within routed conversation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Coaching &amp; Quality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Not applicable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Real-time nudges, compliance scoring, supervisor alerts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Channels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Phone, Chat, SMS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Live Chat, SMS, Social, Email, Voice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Admin Config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Skill prompts + tools per skill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Actions Builder canvas, Coaching Rules, KB management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 Feature-by-Feature Comparison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XBert AI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NextIQ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Autopilot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Always autonomous by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Optional Autopilot with 15-sec countdown + override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Analytics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Resolution rate, deflection rate, skill perf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WorkItem usage, AHT impact, coaching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Escalation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Hands off to human with full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Coaching escalates to supervisor; manual escalation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Personalization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Custom tone, voice, brand per skill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Adapts via C360, conversation history, agent behavior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Continuous auto-test, train, optimize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Admin-driven: coaching rules refined, KB updated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Availability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24/7 — no staffing needed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Active only during agent conversations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Human Oversight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None during resolution; post-hoc 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Real-time: agent reviews every suggestion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5. Pricing &amp; Billing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XBert AI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NextIQ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Customer 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$0.99 per 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$0.20 per WorkItem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Billing Unit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Resolution (successful deflection)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WorkItem (session with any AI interaction)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Minimum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 sessions/month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Free units per SKU per agent seat per cycle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Free Units — Launch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N/A (session-based)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20 free WorkItems per agent seat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Free Units — Grow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50 free WorkItems per agent seat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Free Units — 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 free units — negotiated terms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T&amp;S Add-on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Not applicable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$10 flat for unlimited after free T&amp;S units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AA1"/>
                </a:solidFill>
                <a:latin typeface="Calibri"/>
              </a:defRPr>
            </a:pPr>
            <a:r>
              <a:t>Unit Economics (Internal — Not Customer-Facing)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521208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 / Mode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Internal Cost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Customer Price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XBert AI (per resolution)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~$0.30–0.50*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~49–70%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NextIQ Manual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$0.115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~42.3%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NextIQ Autopilot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~27.9%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NextIQ Blended Target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$0.20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≥ 38.7%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502920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Key Insight: Both products are NEVER billed for the same interaction. If XBert resolves → $0.99. If XBert escalates → only NextIQ billed ($0.20). Clean, non-overlapping billing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6. Use-Case Positioning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Recommended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Upsell Path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High-volume simple queries</a:t>
                      </a:r>
                    </a:p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(FAQ, booking, order status)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XBert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80%+ deflectable autonomously.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Immediate ROI from reduced headcount.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Add NextIQ for the 20% that escalate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Complex multi-step issues</a:t>
                      </a:r>
                    </a:p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(billing disputes, tech support)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NextIQ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Requires human judgment + multi-system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actions. NextIQ reduces AHT 30–40%.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Add XBert to deflect simpler queries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Compliance-heavy industries</a:t>
                      </a:r>
                    </a:p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(healthcare, financial services)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NextIQ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Real-time coaching ensures regulatory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scripts and identity verification.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Add XBert for non-regulated front door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24/7 availability</a:t>
                      </a:r>
                    </a:p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(global SaaS, hospitality)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XBert 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Instant response at any hour without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staffing. Resolves after-hours queries.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NextIQ for business-hours escalations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Full CX transformation</a:t>
                      </a:r>
                    </a:p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(enterprise digital-first)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End-to-end AI: XBert deflects, NextIQ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augments. Maximum AI maturity.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Scale SKU (NextIQ add-on)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Cost reduction mandate</a:t>
                      </a:r>
                    </a:p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(budget cuts, efficiency targets)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XBert → Both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Start with XBert for deflection savings.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Layer NextIQ to reduce AHT.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Show combined ROI model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Agent quality / CSAT</a:t>
                      </a:r>
                    </a:p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(poor NPS, high escalation rate)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NextIQ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Coaching nudges improve agent behavior.</a:t>
                      </a:r>
                    </a:p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NBA acceptance drives consistency.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XBert to reduce volume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7. Customer Segmentation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-91440"/>
            <a:ext cx="1106424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-91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A047"/>
                </a:solidFill>
                <a:latin typeface="Calibri"/>
              </a:defRPr>
            </a:pPr>
            <a:r>
              <a:t>Segment A: SMB / High-Volume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Profile: </a:t>
            </a:r>
            <a:r>
              <a:rPr sz="1200">
                <a:solidFill>
                  <a:srgbClr val="666666"/>
                </a:solidFill>
                <a:latin typeface="Calibri"/>
              </a:rPr>
              <a:t>Restaurants, fitness, home services, e-commerce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Lead With: </a:t>
            </a:r>
            <a:r>
              <a:rPr sz="1200">
                <a:solidFill>
                  <a:srgbClr val="666666"/>
                </a:solidFill>
                <a:latin typeface="Calibri"/>
              </a:rPr>
              <a:t>XBert AI — most value from autonomous deflection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Pricing Hook: </a:t>
            </a:r>
            <a:r>
              <a:rPr sz="1200">
                <a:solidFill>
                  <a:srgbClr val="666666"/>
                </a:solidFill>
                <a:latin typeface="Calibri"/>
              </a:rPr>
              <a:t>$0.99/resolution easy to justify vs. missed call cost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Upsell: </a:t>
            </a:r>
            <a:r>
              <a:rPr sz="1200">
                <a:solidFill>
                  <a:srgbClr val="666666"/>
                </a:solidFill>
                <a:latin typeface="Calibri"/>
              </a:rPr>
              <a:t>Introduce NextIQ for escalation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106424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AA1"/>
                </a:solidFill>
                <a:latin typeface="Calibri"/>
              </a:defRPr>
            </a:pPr>
            <a:r>
              <a:t>Segment B: Mid-Market / Growing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Profile: </a:t>
            </a:r>
            <a:r>
              <a:rPr sz="1200">
                <a:solidFill>
                  <a:srgbClr val="666666"/>
                </a:solidFill>
                <a:latin typeface="Calibri"/>
              </a:rPr>
              <a:t>SaaS, professional services, healthcare clinics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Lead With: </a:t>
            </a:r>
            <a:r>
              <a:rPr sz="1200">
                <a:solidFill>
                  <a:srgbClr val="666666"/>
                </a:solidFill>
                <a:latin typeface="Calibri"/>
              </a:rPr>
              <a:t>Both — XBert deflection + NextIQ productivity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Package: </a:t>
            </a:r>
            <a:r>
              <a:rPr sz="1200">
                <a:solidFill>
                  <a:srgbClr val="666666"/>
                </a:solidFill>
                <a:latin typeface="Calibri"/>
              </a:rPr>
              <a:t>Grow SKU ($25/seat) + XBert add-on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Upsell: </a:t>
            </a:r>
            <a:r>
              <a:rPr sz="1200">
                <a:solidFill>
                  <a:srgbClr val="666666"/>
                </a:solidFill>
                <a:latin typeface="Calibri"/>
              </a:rPr>
              <a:t>Combined ROI: deflection + AHT 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12080"/>
            <a:ext cx="1106424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  <a:latin typeface="Calibri"/>
              </a:defRPr>
            </a:pPr>
            <a:r>
              <a:t>Segment C: Enterprise / Complex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Profile: </a:t>
            </a:r>
            <a:r>
              <a:rPr sz="1200">
                <a:solidFill>
                  <a:srgbClr val="666666"/>
                </a:solidFill>
                <a:latin typeface="Calibri"/>
              </a:rPr>
              <a:t>Financial services, telco, large SaaS platforms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Lead With: </a:t>
            </a:r>
            <a:r>
              <a:rPr sz="1200">
                <a:solidFill>
                  <a:srgbClr val="666666"/>
                </a:solidFill>
                <a:latin typeface="Calibri"/>
              </a:rPr>
              <a:t>NextIQ — coaching, compliance, Autopilot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Package: </a:t>
            </a:r>
            <a:r>
              <a:rPr sz="1200">
                <a:solidFill>
                  <a:srgbClr val="666666"/>
                </a:solidFill>
                <a:latin typeface="Calibri"/>
              </a:rPr>
              <a:t>Scale SKU ($75/seat), NextIQ included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Executive Sell: </a:t>
            </a:r>
            <a:r>
              <a:rPr sz="1200">
                <a:solidFill>
                  <a:srgbClr val="666666"/>
                </a:solidFill>
                <a:latin typeface="Calibri"/>
              </a:rPr>
              <a:t>Supervisor Dashboard + compliance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8. Competitive Battle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A047"/>
                </a:solidFill>
                <a:latin typeface="Calibri"/>
              </a:defRPr>
            </a:pPr>
            <a:r>
              <a:t>XBert AI vs. Customer-Facing Competitors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Competitor</a:t>
                      </a:r>
                    </a:p>
                  </a:txBody>
                  <a:tcPr anchor="ctr">
                    <a:solidFill>
                      <a:srgbClr val="43A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XBert AI Advantage</a:t>
                      </a:r>
                    </a:p>
                  </a:txBody>
                  <a:tcPr anchor="ctr">
                    <a:solidFill>
                      <a:srgbClr val="43A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Intercom Fin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XBert handles phone + chat + SMS. Fin is chat/email only.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Zendesk AI Bots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Reasoning AI agent vs. rule-based flows. Voice native.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Seamless handoff to human within same platform.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Google CCAI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No-code config by admin in minutes vs. GCP engineering.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NextIQ vs. Agent-Augmentation Competitors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73736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Competitor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NextIQ Advantage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Intercom Copilot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NBAs + tool execution + coaching, not just reply suggestions.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Zendesk AI Agents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Executes refunds, schedules callbacks + real-time coaching.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Dialpad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Proactive recommendations, not just passive transcription.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Cognigy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Built into agent workspace — no separate platform.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Observe.AI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Real-time coaching DURING calls, not post-call QA only.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9. The AI Completeness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AA1"/>
                </a:solidFill>
                <a:latin typeface="Calibri"/>
              </a:defRPr>
            </a:pPr>
            <a:r>
              <a:t>No single competitor offers BOTH a customer-facing AI agent AND an agent-facing AI copilot within the same platform with seamless handoff.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0312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Vendor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Customer-Facing AI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Agent-Facing AI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Seamless Handoff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Nextiva (XBert + NextIQ)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Yes (phone, chat, SMS)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Yes (all channels + coaching)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Yes (native)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Intercom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Yes (chat/email only)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Partial (reply suggestions)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Yes (same platform)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Zendesk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Yes (chat/email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Partial (reply suggestions)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Yes (same platform)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Dialpad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Partial (transcription only)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Yes (chat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Requires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Cognigy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Yes (enterprise)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Requires integration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Observe.AI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Post-call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Same platform, same customer data (C360), same admin console </a:t>
            </a:r>
            <a:r>
              <a:rPr sz="1400">
                <a:solidFill>
                  <a:srgbClr val="666666"/>
                </a:solidFill>
                <a:latin typeface="Calibri"/>
              </a:rPr>
              <a:t>— zero integration friction.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Voice is a first-class channel across both products </a:t>
            </a:r>
            <a:r>
              <a:rPr sz="1400">
                <a:solidFill>
                  <a:srgbClr val="666666"/>
                </a:solidFill>
                <a:latin typeface="Calibri"/>
              </a:rPr>
              <a:t>— a gap for nearly every competitor.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XBert → NextIQ handoff preserves full conversation context </a:t>
            </a:r>
            <a:r>
              <a:rPr sz="1400">
                <a:solidFill>
                  <a:srgbClr val="666666"/>
                </a:solidFill>
                <a:latin typeface="Calibri"/>
              </a:rPr>
              <a:t>— no customer repetition.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10. Key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A047"/>
                </a:solidFill>
                <a:latin typeface="Calibri"/>
              </a:defRPr>
            </a:pPr>
            <a:r>
              <a:t>XBert AI 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Skill-Based Architecture: </a:t>
            </a:r>
            <a:r>
              <a:rPr sz="1200">
                <a:solidFill>
                  <a:srgbClr val="666666"/>
                </a:solidFill>
                <a:latin typeface="Calibri"/>
              </a:rPr>
              <a:t>Composable, no-code skill creation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True Omnichannel (Phone + Chat + SMS): </a:t>
            </a:r>
            <a:r>
              <a:rPr sz="1200">
                <a:solidFill>
                  <a:srgbClr val="666666"/>
                </a:solidFill>
                <a:latin typeface="Calibri"/>
              </a:rPr>
              <a:t>Voice is highest-cost channel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$0.99/Resolution Simplicity: </a:t>
            </a:r>
            <a:r>
              <a:rPr sz="1200">
                <a:solidFill>
                  <a:srgbClr val="666666"/>
                </a:solidFill>
                <a:latin typeface="Calibri"/>
              </a:rPr>
              <a:t>Pay only for successful deflections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Seamless Human Handoff: </a:t>
            </a:r>
            <a:r>
              <a:rPr sz="1200">
                <a:solidFill>
                  <a:srgbClr val="666666"/>
                </a:solidFill>
                <a:latin typeface="Calibri"/>
              </a:rPr>
              <a:t>Same platform, instant context transfer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Continuous Self-Improvement: </a:t>
            </a:r>
            <a:r>
              <a:rPr sz="1200">
                <a:solidFill>
                  <a:srgbClr val="666666"/>
                </a:solidFill>
                <a:latin typeface="Calibri"/>
              </a:rPr>
              <a:t>Auto-tests, trains, optimizes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5C0"/>
                </a:solidFill>
                <a:latin typeface="Calibri"/>
              </a:defRPr>
            </a:pPr>
            <a:r>
              <a:t>NextIQ Differentiators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Real-Time Coaching Engine: </a:t>
            </a:r>
            <a:r>
              <a:rPr sz="1200">
                <a:solidFill>
                  <a:srgbClr val="666666"/>
                </a:solidFill>
                <a:latin typeface="Calibri"/>
              </a:rPr>
              <a:t>Rule-based nudges DURING live conversations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Autopilot with Human Oversight: </a:t>
            </a:r>
            <a:r>
              <a:rPr sz="1200">
                <a:solidFill>
                  <a:srgbClr val="666666"/>
                </a:solidFill>
                <a:latin typeface="Calibri"/>
              </a:rPr>
              <a:t>15-sec countdown, full override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NBA Beyond Suggestions: </a:t>
            </a:r>
            <a:r>
              <a:rPr sz="1200">
                <a:solidFill>
                  <a:srgbClr val="666666"/>
                </a:solidFill>
                <a:latin typeface="Calibri"/>
              </a:rPr>
              <a:t>Executes actions (refunds, invites, escalations)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Per-WorkItem Flat Pricing: </a:t>
            </a:r>
            <a:r>
              <a:rPr sz="1200">
                <a:solidFill>
                  <a:srgbClr val="666666"/>
                </a:solidFill>
                <a:latin typeface="Calibri"/>
              </a:rPr>
              <a:t>Predictable regardless of AI calls in session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Voice Parity: </a:t>
            </a:r>
            <a:r>
              <a:rPr sz="1200">
                <a:solidFill>
                  <a:srgbClr val="666666"/>
                </a:solidFill>
                <a:latin typeface="Calibri"/>
              </a:rPr>
              <a:t>Talk tracks + 'Mark as Communicated' for voice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2D2D"/>
                </a:solidFill>
                <a:latin typeface="Calibri"/>
              </a:rPr>
              <a:t>Embedded in Workspace: </a:t>
            </a:r>
            <a:r>
              <a:rPr sz="1200">
                <a:solidFill>
                  <a:srgbClr val="666666"/>
                </a:solidFill>
                <a:latin typeface="Calibri"/>
              </a:rPr>
              <a:t>Lives inside Shared Inbox, no context switch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54880"/>
            <a:ext cx="11064240" cy="1645920"/>
          </a:xfrm>
          <a:prstGeom prst="rect">
            <a:avLst/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Combined Moat: The AI Completeness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Every competitor offers either a customer-facing AI OR an agent-facing AI. Nextiva is the only platform that offers both — on the same platform, sharing the same customer data, with a seamless handoff between them. This is the defensible moat no single-point competitor can replicate.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11. FAQ for Internal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4AA1"/>
                </a:solidFill>
                <a:latin typeface="Calibri"/>
              </a:defRPr>
            </a:pPr>
            <a:r>
              <a:t>Q: Are they competing products?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A: No. XBert is customer-facing (deflection). NextIQ is agent-facing (augmentation). Complementary, not competitive.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4AA1"/>
                </a:solidFill>
                <a:latin typeface="Calibri"/>
              </a:defRPr>
            </a:pPr>
            <a:r>
              <a:t>Q: Can a customer buy just 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A: Yes. Each stands alone and delivers independent value. Combined is significantly stronger.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4AA1"/>
                </a:solidFill>
                <a:latin typeface="Calibri"/>
              </a:defRPr>
            </a:pPr>
            <a:r>
              <a:t>Q: What happens at the handoff?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A: XBert packages full context (transcript, actions, sentiment) and routes to human. NextIQ reads it instantly.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4AA1"/>
                </a:solidFill>
                <a:latin typeface="Calibri"/>
              </a:defRPr>
            </a:pPr>
            <a:r>
              <a:t>Q: Does the customer get billed for both?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A: No. XBert resolves → $0.99. XBert escalates → only NextIQ $0.20. Mutually exclusive billing.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4AA1"/>
                </a:solidFill>
                <a:latin typeface="Calibri"/>
              </a:defRPr>
            </a:pPr>
            <a:r>
              <a:t>Q: Which product should sales lead with?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A: Depends on pain point: deflection → XBert. Agent quality/AHT → NextIQ. CX transformation → both.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4AA1"/>
                </a:solidFill>
                <a:latin typeface="Calibri"/>
              </a:defRPr>
            </a:pPr>
            <a:r>
              <a:t>Q: Can they share the same KB?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A: Yes. Same organizational knowledge assets. XBert via skill prompts, NextIQ via KB engine.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4AA1"/>
                </a:solidFill>
                <a:latin typeface="Calibri"/>
              </a:defRPr>
            </a:pPr>
            <a:r>
              <a:t>Q: How does this compare to Intercom?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A: Fin handles chat/email only (no phone). Copilot suggests but doesn't execute or coach. We cover all channels + coaching.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4AA1"/>
                </a:solidFill>
                <a:latin typeface="Calibri"/>
              </a:defRPr>
            </a:pPr>
            <a:r>
              <a:t>Q: Is there a migration path?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A: Yes. Same platform — adding the second product requires only SKU activation. No data migration.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12. Summary &amp; GTM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Strategic Position: XBert AI and NextIQ are the two pillars of Nextiva's AI-first CX strategy. Together they create a defensible competitive moat no single-point competitor can replicate.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Lead Product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Motion</a:t>
                      </a:r>
                    </a:p>
                  </a:txBody>
                  <a:tcPr anchor="ctr">
                    <a:solidFill>
                      <a:srgbClr val="004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SMB (Launch SKU)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XBert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Self-serve activation. Deflection ROI in 30 days. Upsell NextIQ on escalation volume.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Mid-Market (Grow SKU)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Both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Joint demo: full funnel. Combined ROI calculator. 50 free NextIQ WorkItems.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Enterprise (Scale SKU)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NextIQ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NextIQ add-on $0.20/WorkItem — volume pricing negotiated. Lead with coaching, compliance, Autopilot.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Expansion (existing)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The other one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Using XBert? Show escalation data → NextIQ. Using NextIQ? Show volume data → XBert.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AA1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Sales Enablement: </a:t>
            </a:r>
            <a:r>
              <a:rPr sz="1300">
                <a:solidFill>
                  <a:srgbClr val="666666"/>
                </a:solidFill>
                <a:latin typeface="Calibri"/>
              </a:rPr>
              <a:t>Distribute comparison doc + 30-min enablement session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Unified Demo: </a:t>
            </a:r>
            <a:r>
              <a:rPr sz="1300">
                <a:solidFill>
                  <a:srgbClr val="666666"/>
                </a:solidFill>
                <a:latin typeface="Calibri"/>
              </a:rPr>
              <a:t>Build one demo showing XBert → handoff → NextIQ resolution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ROI Calculator: </a:t>
            </a:r>
            <a:r>
              <a:rPr sz="1300">
                <a:solidFill>
                  <a:srgbClr val="666666"/>
                </a:solidFill>
                <a:latin typeface="Calibri"/>
              </a:rPr>
              <a:t>Combined savings model for pricing page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Packaging Review: </a:t>
            </a:r>
            <a:r>
              <a:rPr sz="1300">
                <a:solidFill>
                  <a:srgbClr val="666666"/>
                </a:solidFill>
                <a:latin typeface="Calibri"/>
              </a:rPr>
              <a:t>Evaluate XBert + NextIQ bundle discount for Grow SKU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Competitive Refresh: </a:t>
            </a:r>
            <a:r>
              <a:rPr sz="1300">
                <a:solidFill>
                  <a:srgbClr val="666666"/>
                </a:solidFill>
                <a:latin typeface="Calibri"/>
              </a:rPr>
              <a:t>Quarterly update cadence for battle cards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NextIQ + XBert AI = Nextiva's Complete 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Confidential  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2323</Words>
  <Application>Microsoft Macintosh PowerPoint</Application>
  <PresentationFormat>Widescreen</PresentationFormat>
  <Paragraphs>363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Anil Kumar Reddy Mosali</cp:lastModifiedBy>
  <cp:revision>2</cp:revision>
  <dcterms:created xsi:type="dcterms:W3CDTF">2013-01-27T09:14:16Z</dcterms:created>
  <dcterms:modified xsi:type="dcterms:W3CDTF">2026-03-09T09:59:56Z</dcterms:modified>
  <cp:category/>
</cp:coreProperties>
</file>